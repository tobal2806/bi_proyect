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41DD9CF-903C-4EB3-B9F1-E871B69E519C}">
  <a:tblStyle styleId="{E41DD9CF-903C-4EB3-B9F1-E871B69E519C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" name="Google Shape;2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" name="Google Shape;3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3B45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/>
        </p:nvSpPr>
        <p:spPr>
          <a:xfrm>
            <a:off x="548640" y="640080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D3D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B7D3D8"/>
                </a:solidFill>
                <a:latin typeface="Calibri"/>
                <a:ea typeface="Calibri"/>
                <a:cs typeface="Calibri"/>
                <a:sym typeface="Calibri"/>
              </a:rPr>
              <a:t>C1</a:t>
            </a:r>
            <a:endParaRPr>
              <a:solidFill>
                <a:srgbClr val="B7D3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 txBox="1"/>
          <p:nvPr/>
        </p:nvSpPr>
        <p:spPr>
          <a:xfrm>
            <a:off x="548640" y="1097280"/>
            <a:ext cx="80467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Case-mix-adjusted length of stay in FONASA GRD hospitals, 2023-2024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 txBox="1"/>
          <p:nvPr/>
        </p:nvSpPr>
        <p:spPr>
          <a:xfrm>
            <a:off x="548640" y="2743200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Business Intelligence IIB423T-1 · GROUP_01 · Matías López, Cristóbal Ramírez · 29 September 2026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 txBox="1"/>
          <p:nvPr/>
        </p:nvSpPr>
        <p:spPr>
          <a:xfrm>
            <a:off x="548640" y="3154680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B683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B6834"/>
                </a:solidFill>
                <a:latin typeface="Calibri"/>
                <a:ea typeface="Calibri"/>
                <a:cs typeface="Calibri"/>
                <a:sym typeface="Calibri"/>
              </a:rPr>
              <a:t>1,719,702 inpatient stays · 72 hospitals · FONASA public GRD files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3B45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0F3B45"/>
                </a:solidFill>
                <a:latin typeface="Cambria"/>
                <a:ea typeface="Cambria"/>
                <a:cs typeface="Cambria"/>
                <a:sym typeface="Cambria"/>
              </a:rPr>
              <a:t>Decision and question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4"/>
          <p:cNvSpPr/>
          <p:nvPr/>
        </p:nvSpPr>
        <p:spPr>
          <a:xfrm>
            <a:off x="457200" y="1280160"/>
            <a:ext cx="4023360" cy="1463040"/>
          </a:xfrm>
          <a:prstGeom prst="roundRect">
            <a:avLst>
              <a:gd fmla="val 5000" name="adj"/>
            </a:avLst>
          </a:prstGeom>
          <a:solidFill>
            <a:srgbClr val="EEF3F4"/>
          </a:solidFill>
          <a:ln cap="flat" cmpd="sng" w="12700">
            <a:solidFill>
              <a:srgbClr val="EEF3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 txBox="1"/>
          <p:nvPr/>
        </p:nvSpPr>
        <p:spPr>
          <a:xfrm>
            <a:off x="594360" y="1371600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3B45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F3B45"/>
                </a:solidFill>
                <a:latin typeface="Calibri"/>
                <a:ea typeface="Calibri"/>
                <a:cs typeface="Calibri"/>
                <a:sym typeface="Calibri"/>
              </a:rPr>
              <a:t>User and decision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4"/>
          <p:cNvSpPr txBox="1"/>
          <p:nvPr/>
        </p:nvSpPr>
        <p:spPr>
          <a:xfrm>
            <a:off x="594360" y="1691640"/>
            <a:ext cx="374904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B1B1B"/>
                </a:solidFill>
                <a:latin typeface="Calibri"/>
                <a:ea typeface="Calibri"/>
                <a:cs typeface="Calibri"/>
                <a:sym typeface="Calibri"/>
              </a:rPr>
              <a:t>FONASA's GRD financing team and hospital bed managers decide which hospitals and GRD groups to prioritise for a review of prolonged stays and discharge processes.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457200" y="2880360"/>
            <a:ext cx="4023360" cy="1691640"/>
          </a:xfrm>
          <a:prstGeom prst="roundRect">
            <a:avLst>
              <a:gd fmla="val 4324" name="adj"/>
            </a:avLst>
          </a:prstGeom>
          <a:solidFill>
            <a:srgbClr val="EEF3F4"/>
          </a:solidFill>
          <a:ln cap="flat" cmpd="sng" w="12700">
            <a:solidFill>
              <a:srgbClr val="EEF3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4"/>
          <p:cNvSpPr txBox="1"/>
          <p:nvPr/>
        </p:nvSpPr>
        <p:spPr>
          <a:xfrm>
            <a:off x="594360" y="2971800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3B45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F3B45"/>
                </a:solidFill>
                <a:latin typeface="Calibri"/>
                <a:ea typeface="Calibri"/>
                <a:cs typeface="Calibri"/>
                <a:sym typeface="Calibri"/>
              </a:rPr>
              <a:t>Measured now vs desired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 txBox="1"/>
          <p:nvPr/>
        </p:nvSpPr>
        <p:spPr>
          <a:xfrm>
            <a:off x="594360" y="3291840"/>
            <a:ext cx="37490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B1B1B"/>
                </a:solidFill>
                <a:latin typeface="Calibri"/>
                <a:ea typeface="Calibri"/>
                <a:cs typeface="Calibri"/>
                <a:sym typeface="Calibri"/>
              </a:rPr>
              <a:t>Desired: fewer bed-days beyond what case mix explains, without worse outcomes (not observable here). Measured: IEMA with interval, % of bed-days in extreme stays, outliers observed/expected.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4663440" y="1280160"/>
            <a:ext cx="4023360" cy="3291840"/>
          </a:xfrm>
          <a:prstGeom prst="roundRect">
            <a:avLst>
              <a:gd fmla="val 2222" name="adj"/>
            </a:avLst>
          </a:prstGeom>
          <a:solidFill>
            <a:srgbClr val="EEF3F4"/>
          </a:solidFill>
          <a:ln cap="flat" cmpd="sng" w="12700">
            <a:solidFill>
              <a:srgbClr val="EEF3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/>
          <p:cNvSpPr txBox="1"/>
          <p:nvPr/>
        </p:nvSpPr>
        <p:spPr>
          <a:xfrm>
            <a:off x="4800600" y="1371600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3B45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F3B45"/>
                </a:solidFill>
                <a:latin typeface="Calibri"/>
                <a:ea typeface="Calibri"/>
                <a:cs typeface="Calibri"/>
                <a:sym typeface="Calibri"/>
              </a:rPr>
              <a:t>Main question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 txBox="1"/>
          <p:nvPr/>
        </p:nvSpPr>
        <p:spPr>
          <a:xfrm>
            <a:off x="4800600" y="1691640"/>
            <a:ext cx="3749040" cy="2788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B1B1B"/>
                </a:solidFill>
                <a:latin typeface="Calibri"/>
                <a:ea typeface="Calibri"/>
                <a:cs typeface="Calibri"/>
                <a:sym typeface="Calibri"/>
              </a:rPr>
              <a:t>Which GRD hospitals show a stay systematically different from the network for their case mix, and how much bed use is in extreme stays? (2023-2024)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1B1B1B"/>
              </a:buClr>
              <a:buSzPts val="600"/>
              <a:buFont typeface="Calibri"/>
              <a:buNone/>
            </a:pPr>
            <a:r>
              <a:rPr b="0" i="0" lang="en-US" sz="600" u="none" cap="none" strike="noStrike">
                <a:solidFill>
                  <a:srgbClr val="1B1B1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1B1B1B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B1B1B"/>
                </a:solidFill>
                <a:latin typeface="Calibri"/>
                <a:ea typeface="Calibri"/>
                <a:cs typeface="Calibri"/>
                <a:sym typeface="Calibri"/>
              </a:rPr>
              <a:t>How robust is the benchmark to its choices?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1B1B1B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B1B1B"/>
                </a:solidFill>
                <a:latin typeface="Calibri"/>
                <a:ea typeface="Calibri"/>
                <a:cs typeface="Calibri"/>
                <a:sym typeface="Calibri"/>
              </a:rPr>
              <a:t>Which GRDs and episodes concentrate extreme-stay bed-days?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1B1B1B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B1B1B"/>
                </a:solidFill>
                <a:latin typeface="Calibri"/>
                <a:ea typeface="Calibri"/>
                <a:cs typeface="Calibri"/>
                <a:sym typeface="Calibri"/>
              </a:rPr>
              <a:t>Is the hospital signal stable between 2023 and 2024?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1B1B1B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B1B1B"/>
                </a:solidFill>
                <a:latin typeface="Calibri"/>
                <a:ea typeface="Calibri"/>
                <a:cs typeface="Calibri"/>
                <a:sym typeface="Calibri"/>
              </a:rPr>
              <a:t>Which admission-time fields vary with extreme stays?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6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468"/>
                </a:solidFill>
                <a:latin typeface="Calibri"/>
                <a:ea typeface="Calibri"/>
                <a:cs typeface="Calibri"/>
                <a:sym typeface="Calibri"/>
              </a:rPr>
              <a:t>IIB423T-1 · C1 · GROUP_01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 txBox="1"/>
          <p:nvPr/>
        </p:nvSpPr>
        <p:spPr>
          <a:xfrm>
            <a:off x="8138160" y="4800600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46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468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5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3B45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0F3B45"/>
                </a:solidFill>
                <a:latin typeface="Cambria"/>
                <a:ea typeface="Cambria"/>
                <a:cs typeface="Cambria"/>
                <a:sym typeface="Cambria"/>
              </a:rPr>
              <a:t>Data, preparation and quality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5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6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A6468"/>
                </a:solidFill>
                <a:latin typeface="Calibri"/>
                <a:ea typeface="Calibri"/>
                <a:cs typeface="Calibri"/>
                <a:sym typeface="Calibri"/>
              </a:rPr>
              <a:t>One row = one GRD-coded discharge, not a patient or a bed-day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5"/>
          <p:cNvSpPr txBox="1"/>
          <p:nvPr/>
        </p:nvSpPr>
        <p:spPr>
          <a:xfrm>
            <a:off x="457200" y="1325880"/>
            <a:ext cx="2011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3B45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0F3B45"/>
                </a:solidFill>
                <a:latin typeface="Cambria"/>
                <a:ea typeface="Cambria"/>
                <a:cs typeface="Cambria"/>
                <a:sym typeface="Cambria"/>
              </a:rPr>
              <a:t>2,125,400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5"/>
          <p:cNvSpPr txBox="1"/>
          <p:nvPr/>
        </p:nvSpPr>
        <p:spPr>
          <a:xfrm>
            <a:off x="457200" y="1874520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6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A6468"/>
                </a:solidFill>
                <a:latin typeface="Calibri"/>
                <a:ea typeface="Calibri"/>
                <a:cs typeface="Calibri"/>
                <a:sym typeface="Calibri"/>
              </a:rPr>
              <a:t>episodes in the two FONASA extracts (unchanged)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5"/>
          <p:cNvSpPr txBox="1"/>
          <p:nvPr/>
        </p:nvSpPr>
        <p:spPr>
          <a:xfrm>
            <a:off x="2560320" y="1325880"/>
            <a:ext cx="2011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78D6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A78D6"/>
                </a:solidFill>
                <a:latin typeface="Cambria"/>
                <a:ea typeface="Cambria"/>
                <a:cs typeface="Cambria"/>
                <a:sym typeface="Cambria"/>
              </a:rPr>
              <a:t>1,719,702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5"/>
          <p:cNvSpPr txBox="1"/>
          <p:nvPr/>
        </p:nvSpPr>
        <p:spPr>
          <a:xfrm>
            <a:off x="2560320" y="1874520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6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A6468"/>
                </a:solidFill>
                <a:latin typeface="Calibri"/>
                <a:ea typeface="Calibri"/>
                <a:cs typeface="Calibri"/>
                <a:sym typeface="Calibri"/>
              </a:rPr>
              <a:t>inpatient stays analysed (CMA and 113 invalid excluded)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5"/>
          <p:cNvSpPr txBox="1"/>
          <p:nvPr/>
        </p:nvSpPr>
        <p:spPr>
          <a:xfrm>
            <a:off x="4663440" y="1325880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3B45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0F3B45"/>
                </a:solidFill>
                <a:latin typeface="Cambria"/>
                <a:ea typeface="Cambria"/>
                <a:cs typeface="Cambria"/>
                <a:sym typeface="Cambria"/>
              </a:rPr>
              <a:t>72 / 72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5"/>
          <p:cNvSpPr txBox="1"/>
          <p:nvPr/>
        </p:nvSpPr>
        <p:spPr>
          <a:xfrm>
            <a:off x="4663440" y="187452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6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A6468"/>
                </a:solidFill>
                <a:latin typeface="Calibri"/>
                <a:ea typeface="Calibri"/>
                <a:cs typeface="Calibri"/>
                <a:sym typeface="Calibri"/>
              </a:rPr>
              <a:t>hospital codes found in the MINSAL facilities file (71 in FONASA's); m:1 join, rows unchanged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5"/>
          <p:cNvSpPr txBox="1"/>
          <p:nvPr/>
        </p:nvSpPr>
        <p:spPr>
          <a:xfrm>
            <a:off x="6675120" y="1325880"/>
            <a:ext cx="2011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B6834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EB6834"/>
                </a:solidFill>
                <a:latin typeface="Cambria"/>
                <a:ea typeface="Cambria"/>
                <a:cs typeface="Cambria"/>
                <a:sym typeface="Cambria"/>
              </a:rPr>
              <a:t>0.14%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5"/>
          <p:cNvSpPr txBox="1"/>
          <p:nvPr/>
        </p:nvSpPr>
        <p:spPr>
          <a:xfrm>
            <a:off x="6675120" y="1874520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6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A6468"/>
                </a:solidFill>
                <a:latin typeface="Calibri"/>
                <a:ea typeface="Calibri"/>
                <a:cs typeface="Calibri"/>
                <a:sym typeface="Calibri"/>
              </a:rPr>
              <a:t>identical rows, retained: no episode ID to prove duplication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2" name="Google Shape;52;p5"/>
          <p:cNvGraphicFramePr/>
          <p:nvPr/>
        </p:nvGraphicFramePr>
        <p:xfrm>
          <a:off x="457200" y="26060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{E41DD9CF-903C-4EB3-B9F1-E871B69E519C}</a:tableStyleId>
              </a:tblPr>
              <a:tblGrid>
                <a:gridCol w="1463050"/>
                <a:gridCol w="6766550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B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1B1B1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Clean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5DC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C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C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C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B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B1B1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 negative stays; same-day stays (LOS = 0) are recorded zeros and kept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5DC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C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C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C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B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1B1B1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Consistent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5DC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C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C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C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B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B1B1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Date format and encoding differ by year (handled); same category sets; 68 common hospitals for year comparisons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5DC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C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C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C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B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1B1B1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Conformed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5DC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C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C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C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B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B1B1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Codes match FONASA and MINSAL dictionaries (200717 missing from FONASA's sheet)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5DC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C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C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C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B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1B1B1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Current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5DC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C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C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C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B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B1B1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Latest discharge Dec 2024; fit for annual review, not daily bed management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5DC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C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C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C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B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1B1B1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Comprehensive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5DC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C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C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C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B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B1B1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GRD hospitals only; no bed-waiting, causes of delay, readmissions or costs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5DC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C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C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C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3" name="Google Shape;53;p5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6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468"/>
                </a:solidFill>
                <a:latin typeface="Calibri"/>
                <a:ea typeface="Calibri"/>
                <a:cs typeface="Calibri"/>
                <a:sym typeface="Calibri"/>
              </a:rPr>
              <a:t>IIB423T-1 · C1 · GROUP_01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5"/>
          <p:cNvSpPr txBox="1"/>
          <p:nvPr/>
        </p:nvSpPr>
        <p:spPr>
          <a:xfrm>
            <a:off x="8138160" y="4800600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46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468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6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3B45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0F3B45"/>
                </a:solidFill>
                <a:latin typeface="Cambria"/>
                <a:ea typeface="Cambria"/>
                <a:cs typeface="Cambria"/>
                <a:sym typeface="Cambria"/>
              </a:rPr>
              <a:t>Closing the benchmark definition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6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6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A6468"/>
                </a:solidFill>
                <a:latin typeface="Calibri"/>
                <a:ea typeface="Calibri"/>
                <a:cs typeface="Calibri"/>
                <a:sym typeface="Calibri"/>
              </a:rPr>
              <a:t>Network reference per IR-GRD code, pooled 2023-2024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6"/>
          <p:cNvSpPr/>
          <p:nvPr/>
        </p:nvSpPr>
        <p:spPr>
          <a:xfrm>
            <a:off x="457200" y="1325880"/>
            <a:ext cx="457200" cy="457200"/>
          </a:xfrm>
          <a:prstGeom prst="ellipse">
            <a:avLst/>
          </a:prstGeom>
          <a:solidFill>
            <a:srgbClr val="0F3B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6"/>
          <p:cNvSpPr txBox="1"/>
          <p:nvPr/>
        </p:nvSpPr>
        <p:spPr>
          <a:xfrm>
            <a:off x="457200" y="13258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6"/>
          <p:cNvSpPr txBox="1"/>
          <p:nvPr/>
        </p:nvSpPr>
        <p:spPr>
          <a:xfrm>
            <a:off x="1005840" y="137160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3B45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F3B45"/>
                </a:solidFill>
                <a:latin typeface="Calibri"/>
                <a:ea typeface="Calibri"/>
                <a:cs typeface="Calibri"/>
                <a:sym typeface="Calibri"/>
              </a:rPr>
              <a:t>Stratum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6"/>
          <p:cNvSpPr txBox="1"/>
          <p:nvPr/>
        </p:nvSpPr>
        <p:spPr>
          <a:xfrm>
            <a:off x="457200" y="1874520"/>
            <a:ext cx="19202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B1B1B"/>
                </a:solidFill>
                <a:latin typeface="Calibri"/>
                <a:ea typeface="Calibri"/>
                <a:cs typeface="Calibri"/>
                <a:sym typeface="Calibri"/>
              </a:rPr>
              <a:t>IR-GRD code; &lt; 30 stays → base GRD (28 codes); still &lt; 30 → excluded (5)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6"/>
          <p:cNvSpPr/>
          <p:nvPr/>
        </p:nvSpPr>
        <p:spPr>
          <a:xfrm>
            <a:off x="2560320" y="1325880"/>
            <a:ext cx="457200" cy="457200"/>
          </a:xfrm>
          <a:prstGeom prst="ellipse">
            <a:avLst/>
          </a:prstGeom>
          <a:solidFill>
            <a:srgbClr val="0F3B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 txBox="1"/>
          <p:nvPr/>
        </p:nvSpPr>
        <p:spPr>
          <a:xfrm>
            <a:off x="2560320" y="13258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6"/>
          <p:cNvSpPr txBox="1"/>
          <p:nvPr/>
        </p:nvSpPr>
        <p:spPr>
          <a:xfrm>
            <a:off x="3108960" y="137160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3B45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F3B45"/>
                </a:solidFill>
                <a:latin typeface="Calibri"/>
                <a:ea typeface="Calibri"/>
                <a:cs typeface="Calibri"/>
                <a:sym typeface="Calibri"/>
              </a:rPr>
              <a:t>Cut-off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6"/>
          <p:cNvSpPr txBox="1"/>
          <p:nvPr/>
        </p:nvSpPr>
        <p:spPr>
          <a:xfrm>
            <a:off x="2560320" y="1874520"/>
            <a:ext cx="19202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B1B1B"/>
                </a:solidFill>
                <a:latin typeface="Calibri"/>
                <a:ea typeface="Calibri"/>
                <a:cs typeface="Calibri"/>
                <a:sym typeface="Calibri"/>
              </a:rPr>
              <a:t>Q3 + 1.5·IQR of stay in the stratum; above = extreme (outlier)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6"/>
          <p:cNvSpPr/>
          <p:nvPr/>
        </p:nvSpPr>
        <p:spPr>
          <a:xfrm>
            <a:off x="4663440" y="1325880"/>
            <a:ext cx="457200" cy="457200"/>
          </a:xfrm>
          <a:prstGeom prst="ellipse">
            <a:avLst/>
          </a:prstGeom>
          <a:solidFill>
            <a:srgbClr val="0F3B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6"/>
          <p:cNvSpPr txBox="1"/>
          <p:nvPr/>
        </p:nvSpPr>
        <p:spPr>
          <a:xfrm>
            <a:off x="4663440" y="13258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6"/>
          <p:cNvSpPr txBox="1"/>
          <p:nvPr/>
        </p:nvSpPr>
        <p:spPr>
          <a:xfrm>
            <a:off x="5212080" y="137160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3B45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F3B45"/>
                </a:solidFill>
                <a:latin typeface="Calibri"/>
                <a:ea typeface="Calibri"/>
                <a:cs typeface="Calibri"/>
                <a:sym typeface="Calibri"/>
              </a:rPr>
              <a:t>Expected stay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6"/>
          <p:cNvSpPr txBox="1"/>
          <p:nvPr/>
        </p:nvSpPr>
        <p:spPr>
          <a:xfrm>
            <a:off x="4663440" y="1874520"/>
            <a:ext cx="19202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B1B1B"/>
                </a:solidFill>
                <a:latin typeface="Calibri"/>
                <a:ea typeface="Calibri"/>
                <a:cs typeface="Calibri"/>
                <a:sym typeface="Calibri"/>
              </a:rPr>
              <a:t>Mean stay of the stratum's ordinary (inlier) cases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6"/>
          <p:cNvSpPr/>
          <p:nvPr/>
        </p:nvSpPr>
        <p:spPr>
          <a:xfrm>
            <a:off x="6766560" y="1325880"/>
            <a:ext cx="457200" cy="457200"/>
          </a:xfrm>
          <a:prstGeom prst="ellipse">
            <a:avLst/>
          </a:prstGeom>
          <a:solidFill>
            <a:srgbClr val="0F3B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6"/>
          <p:cNvSpPr txBox="1"/>
          <p:nvPr/>
        </p:nvSpPr>
        <p:spPr>
          <a:xfrm>
            <a:off x="6766560" y="13258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6"/>
          <p:cNvSpPr txBox="1"/>
          <p:nvPr/>
        </p:nvSpPr>
        <p:spPr>
          <a:xfrm>
            <a:off x="7315200" y="137160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3B45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F3B45"/>
                </a:solidFill>
                <a:latin typeface="Calibri"/>
                <a:ea typeface="Calibri"/>
                <a:cs typeface="Calibri"/>
                <a:sym typeface="Calibri"/>
              </a:rPr>
              <a:t>IEMA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6"/>
          <p:cNvSpPr txBox="1"/>
          <p:nvPr/>
        </p:nvSpPr>
        <p:spPr>
          <a:xfrm>
            <a:off x="6766560" y="1874520"/>
            <a:ext cx="19202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B1B1B"/>
                </a:solidFill>
                <a:latin typeface="Calibri"/>
                <a:ea typeface="Calibri"/>
                <a:cs typeface="Calibri"/>
                <a:sym typeface="Calibri"/>
              </a:rPr>
              <a:t>Σ observed ÷ Σ expected over a hospital's inliers, with 95% interval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6"/>
          <p:cNvSpPr/>
          <p:nvPr/>
        </p:nvSpPr>
        <p:spPr>
          <a:xfrm>
            <a:off x="457200" y="3017520"/>
            <a:ext cx="8229600" cy="1600200"/>
          </a:xfrm>
          <a:prstGeom prst="roundRect">
            <a:avLst>
              <a:gd fmla="val 4571" name="adj"/>
            </a:avLst>
          </a:prstGeom>
          <a:solidFill>
            <a:srgbClr val="FCE9E1"/>
          </a:solidFill>
          <a:ln cap="flat" cmpd="sng" w="12700">
            <a:solidFill>
              <a:srgbClr val="FCE9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6"/>
          <p:cNvSpPr txBox="1"/>
          <p:nvPr/>
        </p:nvSpPr>
        <p:spPr>
          <a:xfrm>
            <a:off x="594360" y="3108960"/>
            <a:ext cx="7955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431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A8431B"/>
                </a:solidFill>
                <a:latin typeface="Calibri"/>
                <a:ea typeface="Calibri"/>
                <a:cs typeface="Calibri"/>
                <a:sym typeface="Calibri"/>
              </a:rPr>
              <a:t>Limits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6"/>
          <p:cNvSpPr txBox="1"/>
          <p:nvPr/>
        </p:nvSpPr>
        <p:spPr>
          <a:xfrm>
            <a:off x="594360" y="3429000"/>
            <a:ext cx="79552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B1B1B"/>
                </a:solidFill>
                <a:latin typeface="Calibri"/>
                <a:ea typeface="Calibri"/>
                <a:cs typeface="Calibri"/>
                <a:sym typeface="Calibri"/>
              </a:rPr>
              <a:t>Relative, not absolute: if the whole network stays too long, IEMA is still 1. The ministerial norm is not public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1B1B1B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B1B1B"/>
                </a:solidFill>
                <a:latin typeface="Calibri"/>
                <a:ea typeface="Calibri"/>
                <a:cs typeface="Calibri"/>
                <a:sym typeface="Calibri"/>
              </a:rPr>
              <a:t>GRD and severity miss social and waiting factors: a high IEMA is a signal for review, not proof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1B1B1B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B1B1B"/>
                </a:solidFill>
                <a:latin typeface="Calibri"/>
                <a:ea typeface="Calibri"/>
                <a:cs typeface="Calibri"/>
                <a:sym typeface="Calibri"/>
              </a:rPr>
              <a:t>Intervals assume independent episodes, so they are optimistic; hospitals near 1 are not ranked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6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6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468"/>
                </a:solidFill>
                <a:latin typeface="Calibri"/>
                <a:ea typeface="Calibri"/>
                <a:cs typeface="Calibri"/>
                <a:sym typeface="Calibri"/>
              </a:rPr>
              <a:t>IIB423T-1 · C1 · GROUP_01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6"/>
          <p:cNvSpPr txBox="1"/>
          <p:nvPr/>
        </p:nvSpPr>
        <p:spPr>
          <a:xfrm>
            <a:off x="8138160" y="4800600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46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468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7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3B45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0F3B45"/>
                </a:solidFill>
                <a:latin typeface="Cambria"/>
                <a:ea typeface="Cambria"/>
                <a:cs typeface="Cambria"/>
                <a:sym typeface="Cambria"/>
              </a:rPr>
              <a:t>Does it survive a changed assumption?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7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6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A6468"/>
                </a:solidFill>
                <a:latin typeface="Calibri"/>
                <a:ea typeface="Calibri"/>
                <a:cs typeface="Calibri"/>
                <a:sym typeface="Calibri"/>
              </a:rPr>
              <a:t>Six variants, one change each; hospital ranking 2024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90" name="Google Shape;90;p7"/>
          <p:cNvGraphicFramePr/>
          <p:nvPr/>
        </p:nvGraphicFramePr>
        <p:xfrm>
          <a:off x="457200" y="12801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{E41DD9CF-903C-4EB3-B9F1-E871B69E519C}</a:tableStyleId>
              </a:tblPr>
              <a:tblGrid>
                <a:gridCol w="3566150"/>
                <a:gridCol w="777250"/>
                <a:gridCol w="777250"/>
                <a:gridCol w="640075"/>
              </a:tblGrid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Variant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5DC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C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C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C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3B4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Rank corr.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5DC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C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C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C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3B4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Class changes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5DC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C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C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C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3B4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% outlier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5DC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C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C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C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3B45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B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B1B1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V0 Main definition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5DC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C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C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C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B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B1B1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1.000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5DC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C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C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C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B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B1B1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5DC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C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C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C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B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B1B1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6.3%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5DC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C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C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C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B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B1B1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V1 Cut-off Q3 + 3.0·IQR (only far-out stays are outliers)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5DC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C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C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C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B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B1B1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0.986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5DC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C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C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C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B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B1B1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5DC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C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C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C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B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B1B1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2.5%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5DC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C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C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C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B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B1B1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V2 Year-specific benchmark (2023 and 2024 separately)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5DC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C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C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C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B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B1B1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0.999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5DC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C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C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C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B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B1B1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5DC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C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C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C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B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B1B1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6.5%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5DC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C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C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C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B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B1B1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V3 Exclude deaths and transfers out (reference and evaluation)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5DC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C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C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C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B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B1B1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0.978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5DC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C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C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C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B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B1B1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5DC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C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C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C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B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B1B1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6.2%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5DC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C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C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C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B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B1B1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V4 Peer-group benchmark by hospital complexity level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5DC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C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C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C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B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B1B1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0.979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5DC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C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C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C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B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B1B1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5DC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C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C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C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B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B1B1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6.3%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5DC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C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C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C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B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B1B1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V5 Exclude national institutes from the reference population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5DC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C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C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C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B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B1B1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1.000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5DC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C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C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C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B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B1B1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5DC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C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C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C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B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B1B1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6.2%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5DC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C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C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C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B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B1B1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V6 Minimum stratum size 100 instead of 30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5DC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C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C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C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B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B1B1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1.000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5DC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C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C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C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B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B1B1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5DC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C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C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C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B1B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B1B1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6.3%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5DC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C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C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C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1" name="Google Shape;91;p7"/>
          <p:cNvSpPr txBox="1"/>
          <p:nvPr/>
        </p:nvSpPr>
        <p:spPr>
          <a:xfrm>
            <a:off x="6492240" y="1325880"/>
            <a:ext cx="21945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78D6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A78D6"/>
                </a:solidFill>
                <a:latin typeface="Cambria"/>
                <a:ea typeface="Cambria"/>
                <a:cs typeface="Cambria"/>
                <a:sym typeface="Cambria"/>
              </a:rPr>
              <a:t>≥ 0.98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7"/>
          <p:cNvSpPr txBox="1"/>
          <p:nvPr/>
        </p:nvSpPr>
        <p:spPr>
          <a:xfrm>
            <a:off x="6492240" y="1874520"/>
            <a:ext cx="2194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6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A6468"/>
                </a:solidFill>
                <a:latin typeface="Calibri"/>
                <a:ea typeface="Calibri"/>
                <a:cs typeface="Calibri"/>
                <a:sym typeface="Calibri"/>
              </a:rPr>
              <a:t>rank correlation with the main definition in every variant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7"/>
          <p:cNvSpPr txBox="1"/>
          <p:nvPr/>
        </p:nvSpPr>
        <p:spPr>
          <a:xfrm>
            <a:off x="6492240" y="2514600"/>
            <a:ext cx="21945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B6834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EB6834"/>
                </a:solidFill>
                <a:latin typeface="Cambria"/>
                <a:ea typeface="Cambria"/>
                <a:cs typeface="Cambria"/>
                <a:sym typeface="Cambria"/>
              </a:rPr>
              <a:t>≤ 7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7"/>
          <p:cNvSpPr txBox="1"/>
          <p:nvPr/>
        </p:nvSpPr>
        <p:spPr>
          <a:xfrm>
            <a:off x="6492240" y="3063240"/>
            <a:ext cx="2194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6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A6468"/>
                </a:solidFill>
                <a:latin typeface="Calibri"/>
                <a:ea typeface="Calibri"/>
                <a:cs typeface="Calibri"/>
                <a:sym typeface="Calibri"/>
              </a:rPr>
              <a:t>of 72 hospitals change class; all within 0.09 of IEMA = 1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7"/>
          <p:cNvSpPr txBox="1"/>
          <p:nvPr/>
        </p:nvSpPr>
        <p:spPr>
          <a:xfrm>
            <a:off x="6492240" y="3657600"/>
            <a:ext cx="21945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68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5A6468"/>
                </a:solidFill>
                <a:latin typeface="Calibri"/>
                <a:ea typeface="Calibri"/>
                <a:cs typeface="Calibri"/>
                <a:sym typeface="Calibri"/>
              </a:rPr>
              <a:t>The cut-off rule changes the level of the outlier KPI, not the ordering: always show the rule with the KPI.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7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6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468"/>
                </a:solidFill>
                <a:latin typeface="Calibri"/>
                <a:ea typeface="Calibri"/>
                <a:cs typeface="Calibri"/>
                <a:sym typeface="Calibri"/>
              </a:rPr>
              <a:t>IIB423T-1 · C1 · GROUP_01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7"/>
          <p:cNvSpPr txBox="1"/>
          <p:nvPr/>
        </p:nvSpPr>
        <p:spPr>
          <a:xfrm>
            <a:off x="8138160" y="4800600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46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468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8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3B45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0F3B45"/>
                </a:solidFill>
                <a:latin typeface="Cambria"/>
                <a:ea typeface="Cambria"/>
                <a:cs typeface="Cambria"/>
                <a:sym typeface="Cambria"/>
              </a:rPr>
              <a:t>Extreme stays: few stays, a quarter of bed-days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8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6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A6468"/>
                </a:solidFill>
                <a:latin typeface="Calibri"/>
                <a:ea typeface="Calibri"/>
                <a:cs typeface="Calibri"/>
                <a:sym typeface="Calibri"/>
              </a:rPr>
              <a:t>6.3% of stays, 25.4% of bed-days in 2024 (mean 28.5 vs 5.6 days)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C1/GROUP_01_C1/data/figures/c1_fig3_grd_concentration.png" id="105" name="Google Shape;10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280160"/>
            <a:ext cx="5120640" cy="2425566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8"/>
          <p:cNvSpPr/>
          <p:nvPr/>
        </p:nvSpPr>
        <p:spPr>
          <a:xfrm>
            <a:off x="5760720" y="1280160"/>
            <a:ext cx="2926080" cy="3291840"/>
          </a:xfrm>
          <a:prstGeom prst="roundRect">
            <a:avLst>
              <a:gd fmla="val 2500" name="adj"/>
            </a:avLst>
          </a:prstGeom>
          <a:solidFill>
            <a:srgbClr val="EEF3F4"/>
          </a:solidFill>
          <a:ln cap="flat" cmpd="sng" w="12700">
            <a:solidFill>
              <a:srgbClr val="EEF3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8"/>
          <p:cNvSpPr txBox="1"/>
          <p:nvPr/>
        </p:nvSpPr>
        <p:spPr>
          <a:xfrm>
            <a:off x="5897880" y="1371600"/>
            <a:ext cx="2651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3B45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F3B45"/>
                </a:solidFill>
                <a:latin typeface="Calibri"/>
                <a:ea typeface="Calibri"/>
                <a:cs typeface="Calibri"/>
                <a:sym typeface="Calibri"/>
              </a:rPr>
              <a:t>What we observe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8"/>
          <p:cNvSpPr txBox="1"/>
          <p:nvPr/>
        </p:nvSpPr>
        <p:spPr>
          <a:xfrm>
            <a:off x="5897880" y="1691640"/>
            <a:ext cx="2651760" cy="2788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1B1B1B"/>
                </a:solidFill>
                <a:latin typeface="Calibri"/>
                <a:ea typeface="Calibri"/>
                <a:cs typeface="Calibri"/>
                <a:sym typeface="Calibri"/>
              </a:rPr>
              <a:t>70 of 764 GRD codes hold half of outlier bed-days; 231 hold 80%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1B1B1B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1B1B1B"/>
                </a:solidFill>
                <a:latin typeface="Calibri"/>
                <a:ea typeface="Calibri"/>
                <a:cs typeface="Calibri"/>
                <a:sym typeface="Calibri"/>
              </a:rPr>
              <a:t>Top: prolonged ventilation, pneumonia with major complications, complex digestive surgery, caesarean section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1B1B1B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1B1B1B"/>
                </a:solidFill>
                <a:latin typeface="Calibri"/>
                <a:ea typeface="Calibri"/>
                <a:cs typeface="Calibri"/>
                <a:sym typeface="Calibri"/>
              </a:rPr>
              <a:t>Emergency admissions exceed their cut-off more than expected (O/E 1.19); elective far less (0.45)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1B1B1B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1B1B1B"/>
                </a:solidFill>
                <a:latin typeface="Calibri"/>
                <a:ea typeface="Calibri"/>
                <a:cs typeface="Calibri"/>
                <a:sym typeface="Calibri"/>
              </a:rPr>
              <a:t>Stays ending in transfer out or other (11.1%) and home hospitalisation (10.4%) are the most often extreme: an association, not a cause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8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6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468"/>
                </a:solidFill>
                <a:latin typeface="Calibri"/>
                <a:ea typeface="Calibri"/>
                <a:cs typeface="Calibri"/>
                <a:sym typeface="Calibri"/>
              </a:rPr>
              <a:t>IIB423T-1 · C1 · GROUP_01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8"/>
          <p:cNvSpPr txBox="1"/>
          <p:nvPr/>
        </p:nvSpPr>
        <p:spPr>
          <a:xfrm>
            <a:off x="8138160" y="4800600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46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468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9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3B45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0F3B45"/>
                </a:solidFill>
                <a:latin typeface="Cambria"/>
                <a:ea typeface="Cambria"/>
                <a:cs typeface="Cambria"/>
                <a:sym typeface="Cambria"/>
              </a:rPr>
              <a:t>Hospitals: adjusted stay with intervals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9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6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A6468"/>
                </a:solidFill>
                <a:latin typeface="Calibri"/>
                <a:ea typeface="Calibri"/>
                <a:cs typeface="Calibri"/>
                <a:sym typeface="Calibri"/>
              </a:rPr>
              <a:t>IEMA 2024, 72 GRD hospitals; 1 = network behaviour for the same case mix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C1/GROUP_01_C1/data/figures/c1_fig4_iema_2024_intervals.png" id="118" name="Google Shape;11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234440"/>
            <a:ext cx="5760720" cy="2646817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9"/>
          <p:cNvSpPr txBox="1"/>
          <p:nvPr/>
        </p:nvSpPr>
        <p:spPr>
          <a:xfrm>
            <a:off x="6492240" y="1280160"/>
            <a:ext cx="21945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B6834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EB6834"/>
                </a:solidFill>
                <a:latin typeface="Cambria"/>
                <a:ea typeface="Cambria"/>
                <a:cs typeface="Cambria"/>
                <a:sym typeface="Cambria"/>
              </a:rPr>
              <a:t>25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9"/>
          <p:cNvSpPr txBox="1"/>
          <p:nvPr/>
        </p:nvSpPr>
        <p:spPr>
          <a:xfrm>
            <a:off x="6492240" y="1828800"/>
            <a:ext cx="2194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6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A6468"/>
                </a:solidFill>
                <a:latin typeface="Calibri"/>
                <a:ea typeface="Calibri"/>
                <a:cs typeface="Calibri"/>
                <a:sym typeface="Calibri"/>
              </a:rPr>
              <a:t>hospitals above the network (interval &gt; 1)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9"/>
          <p:cNvSpPr txBox="1"/>
          <p:nvPr/>
        </p:nvSpPr>
        <p:spPr>
          <a:xfrm>
            <a:off x="6492240" y="2240280"/>
            <a:ext cx="21945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78D6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A78D6"/>
                </a:solidFill>
                <a:latin typeface="Cambria"/>
                <a:ea typeface="Cambria"/>
                <a:cs typeface="Cambria"/>
                <a:sym typeface="Cambria"/>
              </a:rPr>
              <a:t>33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9"/>
          <p:cNvSpPr txBox="1"/>
          <p:nvPr/>
        </p:nvSpPr>
        <p:spPr>
          <a:xfrm>
            <a:off x="6492240" y="2788920"/>
            <a:ext cx="2194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6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A6468"/>
                </a:solidFill>
                <a:latin typeface="Calibri"/>
                <a:ea typeface="Calibri"/>
                <a:cs typeface="Calibri"/>
                <a:sym typeface="Calibri"/>
              </a:rPr>
              <a:t>below the network (interval &lt; 1)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9"/>
          <p:cNvSpPr txBox="1"/>
          <p:nvPr/>
        </p:nvSpPr>
        <p:spPr>
          <a:xfrm>
            <a:off x="6492240" y="3200400"/>
            <a:ext cx="21945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3B45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0F3B45"/>
                </a:solidFill>
                <a:latin typeface="Cambria"/>
                <a:ea typeface="Cambria"/>
                <a:cs typeface="Cambria"/>
                <a:sym typeface="Cambria"/>
              </a:rPr>
              <a:t>14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9"/>
          <p:cNvSpPr txBox="1"/>
          <p:nvPr/>
        </p:nvSpPr>
        <p:spPr>
          <a:xfrm>
            <a:off x="6492240" y="3749040"/>
            <a:ext cx="2194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6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A6468"/>
                </a:solidFill>
                <a:latin typeface="Calibri"/>
                <a:ea typeface="Calibri"/>
                <a:cs typeface="Calibri"/>
                <a:sym typeface="Calibri"/>
              </a:rPr>
              <a:t>not distinguishable: not ranked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9"/>
          <p:cNvSpPr txBox="1"/>
          <p:nvPr/>
        </p:nvSpPr>
        <p:spPr>
          <a:xfrm>
            <a:off x="457200" y="4023360"/>
            <a:ext cx="57607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B1B1B"/>
                </a:solidFill>
                <a:latin typeface="Calibri"/>
                <a:ea typeface="Calibri"/>
                <a:cs typeface="Calibri"/>
                <a:sym typeface="Calibri"/>
              </a:rPr>
              <a:t>Range 0.71-1.18. Crude stay tracks case mix (r = 0.46); IEMA does not (r = -0.08). The 3 national institutes are below the network (0.71, 0.71, 0.91), the opposite of our W1 hypothesis.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9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6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468"/>
                </a:solidFill>
                <a:latin typeface="Calibri"/>
                <a:ea typeface="Calibri"/>
                <a:cs typeface="Calibri"/>
                <a:sym typeface="Calibri"/>
              </a:rPr>
              <a:t>IIB423T-1 · C1 · GROUP_01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9"/>
          <p:cNvSpPr txBox="1"/>
          <p:nvPr/>
        </p:nvSpPr>
        <p:spPr>
          <a:xfrm>
            <a:off x="8138160" y="4800600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46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468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3B45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0F3B45"/>
                </a:solidFill>
                <a:latin typeface="Cambria"/>
                <a:ea typeface="Cambria"/>
                <a:cs typeface="Cambria"/>
                <a:sym typeface="Cambria"/>
              </a:rPr>
              <a:t>Ordinary vs extreme stays, and stability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0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6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A6468"/>
                </a:solidFill>
                <a:latin typeface="Calibri"/>
                <a:ea typeface="Calibri"/>
                <a:cs typeface="Calibri"/>
                <a:sym typeface="Calibri"/>
              </a:rPr>
              <a:t>Ordinary stay and extreme stays are related but distinct (r = 0.52)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C1/GROUP_01_C1/data/figures/c1_fig5_iema_vs_outlier_share.png" id="135" name="Google Shape;13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234440"/>
            <a:ext cx="4480560" cy="3200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claude/C1/GROUP_01_C1/data/figures/c1_fig6_iema_stability.png" id="136" name="Google Shape;136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94960" y="1234440"/>
            <a:ext cx="2834640" cy="2576945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0"/>
          <p:cNvSpPr txBox="1"/>
          <p:nvPr/>
        </p:nvSpPr>
        <p:spPr>
          <a:xfrm>
            <a:off x="5120640" y="3931920"/>
            <a:ext cx="35661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B1B1B"/>
                </a:solidFill>
                <a:latin typeface="Calibri"/>
                <a:ea typeface="Calibri"/>
                <a:cs typeface="Calibri"/>
                <a:sym typeface="Calibri"/>
              </a:rPr>
              <a:t>IEMA 2023 vs 2024: r = 0.93; 58 of 68 hospitals keep their class. The two signals may call for different reviews: discharge processes for ordinary cases, case review for prolonged stays.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0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6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468"/>
                </a:solidFill>
                <a:latin typeface="Calibri"/>
                <a:ea typeface="Calibri"/>
                <a:cs typeface="Calibri"/>
                <a:sym typeface="Calibri"/>
              </a:rPr>
              <a:t>IIB423T-1 · C1 · GROUP_01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0"/>
          <p:cNvSpPr txBox="1"/>
          <p:nvPr/>
        </p:nvSpPr>
        <p:spPr>
          <a:xfrm>
            <a:off x="8138160" y="4800600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46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468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3B45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Conclusions within the evidence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1"/>
          <p:cNvSpPr/>
          <p:nvPr/>
        </p:nvSpPr>
        <p:spPr>
          <a:xfrm>
            <a:off x="457200" y="1188720"/>
            <a:ext cx="1965960" cy="3383280"/>
          </a:xfrm>
          <a:prstGeom prst="roundRect">
            <a:avLst>
              <a:gd fmla="val 3721" name="adj"/>
            </a:avLst>
          </a:prstGeom>
          <a:solidFill>
            <a:srgbClr val="174C58"/>
          </a:solidFill>
          <a:ln cap="flat" cmpd="sng" w="12700">
            <a:solidFill>
              <a:srgbClr val="174C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1"/>
          <p:cNvSpPr txBox="1"/>
          <p:nvPr/>
        </p:nvSpPr>
        <p:spPr>
          <a:xfrm>
            <a:off x="594360" y="132588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B6834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EB6834"/>
                </a:solidFill>
                <a:latin typeface="Calibri"/>
                <a:ea typeface="Calibri"/>
                <a:cs typeface="Calibri"/>
                <a:sym typeface="Calibri"/>
              </a:rPr>
              <a:t>Observed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1"/>
          <p:cNvSpPr txBox="1"/>
          <p:nvPr/>
        </p:nvSpPr>
        <p:spPr>
          <a:xfrm>
            <a:off x="594360" y="1783080"/>
            <a:ext cx="1691640" cy="2651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25 hospitals keep ordinary cases longer than the network and 33 shorter; stable and robust. Half of extreme-stay bed-days fall in 70 of 764 GRD codes.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1"/>
          <p:cNvSpPr/>
          <p:nvPr/>
        </p:nvSpPr>
        <p:spPr>
          <a:xfrm>
            <a:off x="2560320" y="1188720"/>
            <a:ext cx="1965960" cy="3383280"/>
          </a:xfrm>
          <a:prstGeom prst="roundRect">
            <a:avLst>
              <a:gd fmla="val 3721" name="adj"/>
            </a:avLst>
          </a:prstGeom>
          <a:solidFill>
            <a:srgbClr val="174C58"/>
          </a:solidFill>
          <a:ln cap="flat" cmpd="sng" w="12700">
            <a:solidFill>
              <a:srgbClr val="174C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1"/>
          <p:cNvSpPr txBox="1"/>
          <p:nvPr/>
        </p:nvSpPr>
        <p:spPr>
          <a:xfrm>
            <a:off x="2697480" y="132588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B6834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EB6834"/>
                </a:solidFill>
                <a:latin typeface="Calibri"/>
                <a:ea typeface="Calibri"/>
                <a:cs typeface="Calibri"/>
                <a:sym typeface="Calibri"/>
              </a:rPr>
              <a:t>Interpretation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1"/>
          <p:cNvSpPr txBox="1"/>
          <p:nvPr/>
        </p:nvSpPr>
        <p:spPr>
          <a:xfrm>
            <a:off x="2697480" y="1783080"/>
            <a:ext cx="1691640" cy="2651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Compatible with differences in discharge processes, post-acute access or case mix not captured by GRD. The data cannot choose.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1"/>
          <p:cNvSpPr/>
          <p:nvPr/>
        </p:nvSpPr>
        <p:spPr>
          <a:xfrm>
            <a:off x="4663440" y="1188720"/>
            <a:ext cx="1965960" cy="3383280"/>
          </a:xfrm>
          <a:prstGeom prst="roundRect">
            <a:avLst>
              <a:gd fmla="val 3721" name="adj"/>
            </a:avLst>
          </a:prstGeom>
          <a:solidFill>
            <a:srgbClr val="174C58"/>
          </a:solidFill>
          <a:ln cap="flat" cmpd="sng" w="12700">
            <a:solidFill>
              <a:srgbClr val="174C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1"/>
          <p:cNvSpPr txBox="1"/>
          <p:nvPr/>
        </p:nvSpPr>
        <p:spPr>
          <a:xfrm>
            <a:off x="4800600" y="132588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B6834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EB6834"/>
                </a:solidFill>
                <a:latin typeface="Calibri"/>
                <a:ea typeface="Calibri"/>
                <a:cs typeface="Calibri"/>
                <a:sym typeface="Calibri"/>
              </a:rPr>
              <a:t>Cannot establish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1"/>
          <p:cNvSpPr txBox="1"/>
          <p:nvPr/>
        </p:nvSpPr>
        <p:spPr>
          <a:xfrm>
            <a:off x="4800600" y="1783080"/>
            <a:ext cx="1691640" cy="2651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Efficiency against a clinical standard, avoidable days, quality, causes or effects of any intervention.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1"/>
          <p:cNvSpPr/>
          <p:nvPr/>
        </p:nvSpPr>
        <p:spPr>
          <a:xfrm>
            <a:off x="6766560" y="1188720"/>
            <a:ext cx="1965960" cy="3383280"/>
          </a:xfrm>
          <a:prstGeom prst="roundRect">
            <a:avLst>
              <a:gd fmla="val 3721" name="adj"/>
            </a:avLst>
          </a:prstGeom>
          <a:solidFill>
            <a:srgbClr val="174C58"/>
          </a:solidFill>
          <a:ln cap="flat" cmpd="sng" w="12700">
            <a:solidFill>
              <a:srgbClr val="174C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1"/>
          <p:cNvSpPr txBox="1"/>
          <p:nvPr/>
        </p:nvSpPr>
        <p:spPr>
          <a:xfrm>
            <a:off x="6903720" y="132588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B6834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EB6834"/>
                </a:solidFill>
                <a:latin typeface="Calibri"/>
                <a:ea typeface="Calibri"/>
                <a:cs typeface="Calibri"/>
                <a:sym typeface="Calibri"/>
              </a:rPr>
              <a:t>Implication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1"/>
          <p:cNvSpPr txBox="1"/>
          <p:nvPr/>
        </p:nvSpPr>
        <p:spPr>
          <a:xfrm>
            <a:off x="6903720" y="1783080"/>
            <a:ext cx="1691640" cy="2651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Start reviews in hospitals clearly above 1 and their GRDs with most days beyond the cut-off. Next: official norm, delay causes, later 2024 extract.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1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6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468"/>
                </a:solidFill>
                <a:latin typeface="Calibri"/>
                <a:ea typeface="Calibri"/>
                <a:cs typeface="Calibri"/>
                <a:sym typeface="Calibri"/>
              </a:rPr>
              <a:t>IIB423T-1 · C1 · GROUP_01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1"/>
          <p:cNvSpPr txBox="1"/>
          <p:nvPr/>
        </p:nvSpPr>
        <p:spPr>
          <a:xfrm>
            <a:off x="8138160" y="4800600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46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468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3B45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0F3B45"/>
                </a:solidFill>
                <a:latin typeface="Cambria"/>
                <a:ea typeface="Cambria"/>
                <a:cs typeface="Cambria"/>
                <a:sym typeface="Cambria"/>
              </a:rPr>
              <a:t>Continuity: ML task and dashboard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2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6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A6468"/>
                </a:solidFill>
                <a:latin typeface="Calibri"/>
                <a:ea typeface="Calibri"/>
                <a:cs typeface="Calibri"/>
                <a:sym typeface="Calibri"/>
              </a:rPr>
              <a:t>Proposal only: no model trained, no algorithm chosen, no performance claimed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2"/>
          <p:cNvSpPr/>
          <p:nvPr/>
        </p:nvSpPr>
        <p:spPr>
          <a:xfrm>
            <a:off x="457200" y="1280160"/>
            <a:ext cx="4023360" cy="3337560"/>
          </a:xfrm>
          <a:prstGeom prst="roundRect">
            <a:avLst>
              <a:gd fmla="val 2192" name="adj"/>
            </a:avLst>
          </a:prstGeom>
          <a:solidFill>
            <a:srgbClr val="EEF3F4"/>
          </a:solidFill>
          <a:ln cap="flat" cmpd="sng" w="12700">
            <a:solidFill>
              <a:srgbClr val="EEF3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2"/>
          <p:cNvSpPr txBox="1"/>
          <p:nvPr/>
        </p:nvSpPr>
        <p:spPr>
          <a:xfrm>
            <a:off x="594360" y="1371600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3B45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F3B45"/>
                </a:solidFill>
                <a:latin typeface="Calibri"/>
                <a:ea typeface="Calibri"/>
                <a:cs typeface="Calibri"/>
                <a:sym typeface="Calibri"/>
              </a:rPr>
              <a:t>ML: flag extreme-stay risk at admission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2"/>
          <p:cNvSpPr txBox="1"/>
          <p:nvPr/>
        </p:nvSpPr>
        <p:spPr>
          <a:xfrm>
            <a:off x="594360" y="1691640"/>
            <a:ext cx="3749040" cy="2834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1B1B1B"/>
                </a:solidFill>
                <a:latin typeface="Calibri"/>
                <a:ea typeface="Calibri"/>
                <a:cs typeface="Calibri"/>
                <a:sym typeface="Calibri"/>
              </a:rPr>
              <a:t>Unit: inpatient episode at admission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1B1B1B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1B1B1B"/>
                </a:solidFill>
                <a:latin typeface="Calibri"/>
                <a:ea typeface="Calibri"/>
                <a:cs typeface="Calibri"/>
                <a:sym typeface="Calibri"/>
              </a:rPr>
              <a:t>Label: stay above its GRD cut-off (≈ 6.3%, stable)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1B1B1B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1B1B1B"/>
                </a:solidFill>
                <a:latin typeface="Calibri"/>
                <a:ea typeface="Calibri"/>
                <a:cs typeface="Calibri"/>
                <a:sym typeface="Calibri"/>
              </a:rPr>
              <a:t>Inputs: age, sex, admission type, origin, admitting unit, insurance, hospital, month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1B1B1B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1B1B1B"/>
                </a:solidFill>
                <a:latin typeface="Calibri"/>
                <a:ea typeface="Calibri"/>
                <a:cs typeface="Calibri"/>
                <a:sym typeface="Calibri"/>
              </a:rPr>
              <a:t>Excluded (leakage): GRD, severity, diagnosis, discharge fields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1B1B1B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1B1B1B"/>
                </a:solidFill>
                <a:latin typeface="Calibri"/>
                <a:ea typeface="Calibri"/>
                <a:cs typeface="Calibri"/>
                <a:sym typeface="Calibri"/>
              </a:rPr>
              <a:t>To review: field timing; label when GRD unknown at admission; imbalance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1B1B1B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1B1B1B"/>
                </a:solidFill>
                <a:latin typeface="Calibri"/>
                <a:ea typeface="Calibri"/>
                <a:cs typeface="Calibri"/>
                <a:sym typeface="Calibri"/>
              </a:rPr>
              <a:t>Intended use: start discharge planning on day one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2"/>
          <p:cNvSpPr/>
          <p:nvPr/>
        </p:nvSpPr>
        <p:spPr>
          <a:xfrm>
            <a:off x="4663440" y="1280160"/>
            <a:ext cx="4023360" cy="3337560"/>
          </a:xfrm>
          <a:prstGeom prst="roundRect">
            <a:avLst>
              <a:gd fmla="val 2192" name="adj"/>
            </a:avLst>
          </a:prstGeom>
          <a:solidFill>
            <a:srgbClr val="EEF3F4"/>
          </a:solidFill>
          <a:ln cap="flat" cmpd="sng" w="12700">
            <a:solidFill>
              <a:srgbClr val="EEF3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2"/>
          <p:cNvSpPr txBox="1"/>
          <p:nvPr/>
        </p:nvSpPr>
        <p:spPr>
          <a:xfrm>
            <a:off x="4800600" y="1371600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3B45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F3B45"/>
                </a:solidFill>
                <a:latin typeface="Calibri"/>
                <a:ea typeface="Calibri"/>
                <a:cs typeface="Calibri"/>
                <a:sym typeface="Calibri"/>
              </a:rPr>
              <a:t>Dashboard for bed management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2"/>
          <p:cNvSpPr txBox="1"/>
          <p:nvPr/>
        </p:nvSpPr>
        <p:spPr>
          <a:xfrm>
            <a:off x="4800600" y="1691640"/>
            <a:ext cx="3749040" cy="2834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1B1B1B"/>
                </a:solidFill>
                <a:latin typeface="Calibri"/>
                <a:ea typeface="Calibri"/>
                <a:cs typeface="Calibri"/>
                <a:sym typeface="Calibri"/>
              </a:rPr>
              <a:t>Users: FONASA GRD team; hospital and Health Service bed managers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1B1B1B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1B1B1B"/>
                </a:solidFill>
                <a:latin typeface="Calibri"/>
                <a:ea typeface="Calibri"/>
                <a:cs typeface="Calibri"/>
                <a:sym typeface="Calibri"/>
              </a:rPr>
              <a:t>KPIs: IEMA with interval and class; % bed-days in extreme stays; outliers O/E; days beyond cut-off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1B1B1B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1B1B1B"/>
                </a:solidFill>
                <a:latin typeface="Calibri"/>
                <a:ea typeface="Calibri"/>
                <a:cs typeface="Calibri"/>
                <a:sym typeface="Calibri"/>
              </a:rPr>
              <a:t>Views: intervals, quadrant, GRD list, monthly trend, definition panel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1B1B1B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1B1B1B"/>
                </a:solidFill>
                <a:latin typeface="Calibri"/>
                <a:ea typeface="Calibri"/>
                <a:cs typeface="Calibri"/>
                <a:sym typeface="Calibri"/>
              </a:rPr>
              <a:t>Filters: year, month, hospital, complexity, GRD, admission and discharge type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1B1B1B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1B1B1B"/>
                </a:solidFill>
                <a:latin typeface="Calibri"/>
                <a:ea typeface="Calibri"/>
                <a:cs typeface="Calibri"/>
                <a:sym typeface="Calibri"/>
              </a:rPr>
              <a:t>Rules from EDA: no ranking near 1; rule shown next to outlier KPI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2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6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468"/>
                </a:solidFill>
                <a:latin typeface="Calibri"/>
                <a:ea typeface="Calibri"/>
                <a:cs typeface="Calibri"/>
                <a:sym typeface="Calibri"/>
              </a:rPr>
              <a:t>IIB423T-1 · C1 · GROUP_01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2"/>
          <p:cNvSpPr txBox="1"/>
          <p:nvPr/>
        </p:nvSpPr>
        <p:spPr>
          <a:xfrm>
            <a:off x="8138160" y="4800600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46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468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